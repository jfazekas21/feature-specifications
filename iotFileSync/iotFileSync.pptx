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0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0B3A6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051560" cy="105156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iotFileSync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Manifest-driven file synchronization for RAM-constrained IoT controllers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461772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0B3A6B"/>
          </a:solidFill>
          <a:ln w="12700">
            <a:solidFill>
              <a:srgbClr val="4054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46908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" y="490118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651760" y="461772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0B3A6B"/>
          </a:solidFill>
          <a:ln w="12700">
            <a:solidFill>
              <a:srgbClr val="4054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16352" y="46908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816352" y="490118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754880" y="461772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0B3A6B"/>
          </a:solidFill>
          <a:ln w="12700">
            <a:solidFill>
              <a:srgbClr val="4054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19472" y="46908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19472" y="490118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858000" y="4617720"/>
            <a:ext cx="1874520" cy="713232"/>
          </a:xfrm>
          <a:prstGeom prst="roundRect">
            <a:avLst>
              <a:gd name="adj" fmla="val 10256"/>
            </a:avLst>
          </a:prstGeom>
          <a:solidFill>
            <a:srgbClr val="0B3A6B"/>
          </a:solidFill>
          <a:ln w="12700">
            <a:solidFill>
              <a:srgbClr val="40546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22592" y="4690872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022592" y="490118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5486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Jonathan, Haven Lighting   ·   Last updated 2026-06-25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core bet: minimize HTTP transactions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RAM-constrained ESP32-S3 must keep up to 1,500 files in step with an authoritative server copy — </a:t>
            </a:r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ever holding a full file or full manifest in memory.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optimization that drives every design decision:
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 useful information per payload, and push all comparison logic onto the device.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4663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F7F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fat calls beat twelve chatty ones.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5394960" cy="2057400"/>
          </a:xfrm>
          <a:prstGeom prst="roundRect">
            <a:avLst>
              <a:gd name="adj" fmla="val 4444"/>
            </a:avLst>
          </a:prstGeom>
          <a:solidFill>
            <a:srgbClr val="FBEEEC"/>
          </a:solidFill>
          <a:ln w="12700">
            <a:solidFill>
              <a:srgbClr val="E8C5B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DRILL-DOWN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46520" y="2240280"/>
            <a:ext cx="4754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6446520" y="2441448"/>
            <a:ext cx="4754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6446520" y="2642616"/>
            <a:ext cx="4754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6446520" y="2843784"/>
            <a:ext cx="4754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6446520" y="3044952"/>
            <a:ext cx="4754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446520" y="3246120"/>
            <a:ext cx="47548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6400800" y="32004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calls to sync one small change — a transaction storm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126480" y="38404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E9F5EE"/>
          </a:solidFill>
          <a:ln w="12700">
            <a:solidFill>
              <a:srgbClr val="BFE3C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0080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+ RANGE FETCH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46520" y="4709160"/>
            <a:ext cx="4754880" cy="0"/>
          </a:xfrm>
          <a:prstGeom prst="line">
            <a:avLst/>
          </a:prstGeom>
          <a:noFill/>
          <a:ln w="63500">
            <a:solidFill>
              <a:srgbClr val="1E8E57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6446520" y="5166360"/>
            <a:ext cx="4754880" cy="0"/>
          </a:xfrm>
          <a:prstGeom prst="line">
            <a:avLst/>
          </a:prstGeom>
          <a:noFill/>
          <a:ln w="63500">
            <a:solidFill>
              <a:srgbClr val="1E8E57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6400800" y="5532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calls carry the change — poll, then fetch only changed bytes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LIMITS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numbers that bound the design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3456432" cy="2121408"/>
          </a:xfrm>
          <a:prstGeom prst="roundRect">
            <a:avLst>
              <a:gd name="adj" fmla="val 4310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03911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26517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1,500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22960" y="3264408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files per device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325112" y="1600200"/>
            <a:ext cx="3456432" cy="2121408"/>
          </a:xfrm>
          <a:prstGeom prst="roundRect">
            <a:avLst>
              <a:gd name="adj" fmla="val 4310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99432" y="1874520"/>
            <a:ext cx="640080" cy="64008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024" y="2039112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99432" y="26517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MB</a:t>
            </a:r>
            <a:endParaRPr lang="en-US" sz="3400" dirty="0"/>
          </a:p>
        </p:txBody>
      </p:sp>
      <p:sp>
        <p:nvSpPr>
          <p:cNvPr id="15" name="Text 10"/>
          <p:cNvSpPr/>
          <p:nvPr/>
        </p:nvSpPr>
        <p:spPr>
          <a:xfrm>
            <a:off x="4599432" y="3264408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file size (binary)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101584" y="1600200"/>
            <a:ext cx="3456432" cy="2121408"/>
          </a:xfrm>
          <a:prstGeom prst="roundRect">
            <a:avLst>
              <a:gd name="adj" fmla="val 4310"/>
            </a:avLst>
          </a:prstGeom>
          <a:solidFill>
            <a:srgbClr val="032654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75904" y="1874520"/>
            <a:ext cx="640080" cy="64008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0496" y="2039112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75904" y="2651760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1,000 B</a:t>
            </a:r>
            <a:endParaRPr lang="en-US" sz="3400" dirty="0"/>
          </a:p>
        </p:txBody>
      </p:sp>
      <p:sp>
        <p:nvSpPr>
          <p:cNvPr id="20" name="Text 14"/>
          <p:cNvSpPr/>
          <p:nvPr/>
        </p:nvSpPr>
        <p:spPr>
          <a:xfrm>
            <a:off x="8375904" y="3264408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RAM ceiling — non-negotiable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4041648"/>
            <a:ext cx="3456432" cy="2121408"/>
          </a:xfrm>
          <a:prstGeom prst="roundRect">
            <a:avLst>
              <a:gd name="adj" fmla="val 4310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22960" y="4315968"/>
            <a:ext cx="640080" cy="64008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4480560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22960" y="5093208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KB</a:t>
            </a:r>
            <a:endParaRPr lang="en-US" sz="3400" dirty="0"/>
          </a:p>
        </p:txBody>
      </p:sp>
      <p:sp>
        <p:nvSpPr>
          <p:cNvPr id="25" name="Text 18"/>
          <p:cNvSpPr/>
          <p:nvPr/>
        </p:nvSpPr>
        <p:spPr>
          <a:xfrm>
            <a:off x="822960" y="5705856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byte-range / chunk floor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325112" y="4041648"/>
            <a:ext cx="3456432" cy="2121408"/>
          </a:xfrm>
          <a:prstGeom prst="roundRect">
            <a:avLst>
              <a:gd name="adj" fmla="val 4310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599432" y="4315968"/>
            <a:ext cx="640080" cy="64008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4480560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99432" y="5093208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16-bit</a:t>
            </a:r>
            <a:endParaRPr lang="en-US" sz="3400" dirty="0"/>
          </a:p>
        </p:txBody>
      </p:sp>
      <p:sp>
        <p:nvSpPr>
          <p:cNvPr id="30" name="Text 22"/>
          <p:cNvSpPr/>
          <p:nvPr/>
        </p:nvSpPr>
        <p:spPr>
          <a:xfrm>
            <a:off x="4599432" y="5705856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 width (change detection)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101584" y="4041648"/>
            <a:ext cx="3456432" cy="2121408"/>
          </a:xfrm>
          <a:prstGeom prst="roundRect">
            <a:avLst>
              <a:gd name="adj" fmla="val 4310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75904" y="4315968"/>
            <a:ext cx="640080" cy="64008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0496" y="4480560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75904" y="5093208"/>
            <a:ext cx="2907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64</a:t>
            </a:r>
            <a:endParaRPr lang="en-US" sz="3400" dirty="0"/>
          </a:p>
        </p:txBody>
      </p:sp>
      <p:sp>
        <p:nvSpPr>
          <p:cNvPr id="35" name="Text 26"/>
          <p:cNvSpPr/>
          <p:nvPr/>
        </p:nvSpPr>
        <p:spPr>
          <a:xfrm>
            <a:off x="8375904" y="5705856"/>
            <a:ext cx="29535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CRC entries per file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Goals &amp; non-goals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00200"/>
            <a:ext cx="5440680" cy="4663440"/>
          </a:xfrm>
          <a:prstGeom prst="roundRect">
            <a:avLst>
              <a:gd name="adj" fmla="val 196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2377440"/>
            <a:ext cx="365760" cy="365760"/>
          </a:xfrm>
          <a:prstGeom prst="ellipse">
            <a:avLst/>
          </a:prstGeom>
          <a:solidFill>
            <a:srgbClr val="1E8E5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6888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322576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HTTP transactions — two fat calls over twelve thin ones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914400" y="3127248"/>
            <a:ext cx="365760" cy="365760"/>
          </a:xfrm>
          <a:prstGeom prst="ellipse">
            <a:avLst/>
          </a:prstGeom>
          <a:solidFill>
            <a:srgbClr val="1E8E5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21868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63040" y="3072384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device working memory tiny — never hold a full file or manifest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14400" y="3877056"/>
            <a:ext cx="365760" cy="365760"/>
          </a:xfrm>
          <a:prstGeom prst="ellipse">
            <a:avLst/>
          </a:prstGeom>
          <a:solidFill>
            <a:srgbClr val="1E8E5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968496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63040" y="3822192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append the fast path (~80% of changes are pure appends)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914400" y="4626864"/>
            <a:ext cx="365760" cy="365760"/>
          </a:xfrm>
          <a:prstGeom prst="ellipse">
            <a:avLst/>
          </a:prstGeom>
          <a:solidFill>
            <a:srgbClr val="1E8E57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71830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63040" y="45720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adds, deletes, appends &amp; mid-file edits — even simultaneously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914400" y="5376672"/>
            <a:ext cx="365760" cy="365760"/>
          </a:xfrm>
          <a:prstGeom prst="ellipse">
            <a:avLst/>
          </a:prstGeom>
          <a:solidFill>
            <a:srgbClr val="1E8E57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5468112"/>
            <a:ext cx="182880" cy="1828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463040" y="5321808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 shared files server-side, computed once for the fleet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6355080" y="1600200"/>
            <a:ext cx="5285232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905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Text 16"/>
          <p:cNvSpPr/>
          <p:nvPr/>
        </p:nvSpPr>
        <p:spPr>
          <a:xfrm>
            <a:off x="6720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NON-GOALS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6720840" y="2468880"/>
            <a:ext cx="365760" cy="365760"/>
          </a:xfrm>
          <a:prstGeom prst="ellipse">
            <a:avLst/>
          </a:prstGeom>
          <a:solidFill>
            <a:srgbClr val="D8DCE4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2560320"/>
            <a:ext cx="182880" cy="1828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7269480" y="237744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Malicious-modification / tamper protection — CRC is change detection only</a:t>
            </a:r>
            <a:endParaRPr lang="en-US" sz="1250" dirty="0"/>
          </a:p>
        </p:txBody>
      </p:sp>
      <p:sp>
        <p:nvSpPr>
          <p:cNvPr id="28" name="Shape 19"/>
          <p:cNvSpPr/>
          <p:nvPr/>
        </p:nvSpPr>
        <p:spPr>
          <a:xfrm>
            <a:off x="6720840" y="3429000"/>
            <a:ext cx="365760" cy="365760"/>
          </a:xfrm>
          <a:prstGeom prst="ellipse">
            <a:avLst/>
          </a:prstGeom>
          <a:solidFill>
            <a:srgbClr val="D8DCE4"/>
          </a:solidFill>
          <a:ln/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520440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269480" y="333756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Application-level reassembly of oversized single responses</a:t>
            </a:r>
            <a:endParaRPr lang="en-US" sz="1250" dirty="0"/>
          </a:p>
        </p:txBody>
      </p:sp>
      <p:sp>
        <p:nvSpPr>
          <p:cNvPr id="31" name="Shape 21"/>
          <p:cNvSpPr/>
          <p:nvPr/>
        </p:nvSpPr>
        <p:spPr>
          <a:xfrm>
            <a:off x="6720840" y="4389120"/>
            <a:ext cx="365760" cy="365760"/>
          </a:xfrm>
          <a:prstGeom prst="ellipse">
            <a:avLst/>
          </a:prstGeom>
          <a:solidFill>
            <a:srgbClr val="D8DCE4"/>
          </a:solidFill>
          <a:ln/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4480560"/>
            <a:ext cx="182880" cy="18288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7269480" y="42976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Transports other than HTTP in v1 (IoT-hub &amp; WebSocket anticipated)</a:t>
            </a:r>
            <a:endParaRPr lang="en-US" sz="1250" dirty="0"/>
          </a:p>
        </p:txBody>
      </p:sp>
      <p:sp>
        <p:nvSpPr>
          <p:cNvPr id="34" name="Text 23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manifest is the system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keeps a per-device, fixed-width SQLite manifest — one row per file, with name, size, version and a compact CRC tree. The manifest is itself “file zero” and syncs with the same machinery. The server becomes an essentially static file host: no per-device drill-down protocol, no server-side tree-walking.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3108960"/>
            <a:ext cx="640080" cy="640080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" y="327355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914400" y="3977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file host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per-device manifests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HTTP byte ranges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tree-walking, no pre-staging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7434072" y="2834640"/>
            <a:ext cx="4206240" cy="3200400"/>
          </a:xfrm>
          <a:prstGeom prst="roundRect">
            <a:avLst>
              <a:gd name="adj" fmla="val 2857"/>
            </a:avLst>
          </a:prstGeom>
          <a:solidFill>
            <a:srgbClr val="032654"/>
          </a:solidFill>
          <a:ln/>
          <a:effectLst>
            <a:outerShdw sx="100000" sy="100000" kx="0" ky="0" algn="bl" rotWithShape="0" blurRad="88900" dist="38100" dir="5400000">
              <a:srgbClr val="000000">
                <a:alpha val="2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754112" y="3108960"/>
            <a:ext cx="640080" cy="64008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8704" y="327355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531352" y="32461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DEVICE (ESP32-S3)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7799832" y="397764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comparison logic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Caches its own CRC tree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manifest rows page-by-page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loads a full file in RAM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5486400" y="3977640"/>
            <a:ext cx="1188720" cy="914400"/>
          </a:xfrm>
          <a:prstGeom prst="ellipse">
            <a:avLst/>
          </a:prstGeom>
          <a:solidFill>
            <a:srgbClr val="EAF1FA"/>
          </a:solidFill>
          <a:ln w="19050">
            <a:solidFill>
              <a:srgbClr val="80A7D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486400" y="4160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0" y="44074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4434840"/>
            <a:ext cx="713232" cy="0"/>
          </a:xfrm>
          <a:prstGeom prst="line">
            <a:avLst/>
          </a:prstGeom>
          <a:noFill/>
          <a:ln w="31750">
            <a:solidFill>
              <a:srgbClr val="40546E"/>
            </a:solidFill>
            <a:prstDash val="solid"/>
            <a:headEnd type="triangle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6702552" y="4434840"/>
            <a:ext cx="713232" cy="0"/>
          </a:xfrm>
          <a:prstGeom prst="line">
            <a:avLst/>
          </a:prstGeom>
          <a:noFill/>
          <a:ln w="31750">
            <a:solidFill>
              <a:srgbClr val="40546E"/>
            </a:solidFill>
            <a:prstDash val="solid"/>
            <a:headEnd type="triangle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Shared vs. custom manifest split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per-device manifest would re-duplicate the heavy CRC data for shared files — the bulk of the 1,500 — into every device. Splitting the manifest keeps that data fleet-wide and cacheable.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931920" y="2423160"/>
            <a:ext cx="4297680" cy="1234440"/>
          </a:xfrm>
          <a:prstGeom prst="roundRect">
            <a:avLst>
              <a:gd name="adj" fmla="val 7407"/>
            </a:avLst>
          </a:prstGeom>
          <a:solidFill>
            <a:srgbClr val="032654"/>
          </a:solidFill>
          <a:ln/>
          <a:effectLst>
            <a:outerShdw sx="100000" sy="100000" kx="0" ky="0" algn="bl" rotWithShape="0" blurRad="88900" dist="38100" dir="5400000">
              <a:srgbClr val="000000">
                <a:alpha val="2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206240" y="2651760"/>
            <a:ext cx="777240" cy="77724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852928"/>
            <a:ext cx="457200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20640" y="267004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SHARED MANIFEST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5120640" y="2999232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· CDN-cacheable · heavy chunk vectors · generated once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80760" y="3657600"/>
            <a:ext cx="-4160520" cy="128016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914400" y="49377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1143000" y="5166360"/>
            <a:ext cx="502920" cy="50292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5285232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5193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1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43000" y="57790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manifest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6080760" y="3657600"/>
            <a:ext cx="-1097280" cy="128016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3977640" y="49377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206240" y="5166360"/>
            <a:ext cx="502920" cy="50292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5112" y="528523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00600" y="5193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2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206240" y="57790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manifest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080760" y="3657600"/>
            <a:ext cx="1965960" cy="128016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7040880" y="49377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269480" y="5166360"/>
            <a:ext cx="502920" cy="50292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5285232"/>
            <a:ext cx="265176" cy="26517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863840" y="5193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3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269480" y="57790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manifest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080760" y="3657600"/>
            <a:ext cx="5029200" cy="128016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10104120" y="4937760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332720" y="5166360"/>
            <a:ext cx="502920" cy="502920"/>
          </a:xfrm>
          <a:prstGeom prst="ellipse">
            <a:avLst/>
          </a:prstGeom>
          <a:solidFill>
            <a:srgbClr val="EAF1FA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1592" y="5285232"/>
            <a:ext cx="265176" cy="26517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927080" y="51937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4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0332720" y="57790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custom manifest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548640" y="2423160"/>
            <a:ext cx="3154680" cy="1234440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7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822960" y="25786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MANIFEST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822960" y="2852928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per-device — only that device’s unique files. The poll checks TWO versions, one per manifest.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three transaction types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protocol reduces to three kinds of HTTP call — about as few as the problem physically allows.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032654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743200"/>
            <a:ext cx="868680" cy="86868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144" y="2980944"/>
            <a:ext cx="393192" cy="3931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0896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40546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914400" y="3794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Version poll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914400" y="4343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request returns the shared + custom manifest version numbers. In steady state, the ONLY call — and it costs almost nothing.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14400" y="5330952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0B3A6B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349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STATE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014216" y="3794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F00"/>
                </a:solidFill>
              </a:rPr>
              <a:t>→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4315968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681728" y="2743200"/>
            <a:ext cx="868680" cy="86868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472" y="2980944"/>
            <a:ext cx="393192" cy="3931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76288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CE4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4600" dirty="0"/>
          </a:p>
        </p:txBody>
      </p:sp>
      <p:sp>
        <p:nvSpPr>
          <p:cNvPr id="20" name="Text 15"/>
          <p:cNvSpPr/>
          <p:nvPr/>
        </p:nvSpPr>
        <p:spPr>
          <a:xfrm>
            <a:off x="4681728" y="3794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Manifest fetch</a:t>
            </a:r>
            <a:endParaRPr lang="en-US" sz="1900" dirty="0"/>
          </a:p>
        </p:txBody>
      </p:sp>
      <p:sp>
        <p:nvSpPr>
          <p:cNvPr id="21" name="Text 16"/>
          <p:cNvSpPr/>
          <p:nvPr/>
        </p:nvSpPr>
        <p:spPr>
          <a:xfrm>
            <a:off x="4681728" y="4343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version moves, a byte-range fetch of just the changed portion of the relevant manifest. One fetch resolves any number of changes.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81728" y="5330952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/>
        </p:spPr>
      </p:sp>
      <p:sp>
        <p:nvSpPr>
          <p:cNvPr id="23" name="Text 18"/>
          <p:cNvSpPr/>
          <p:nvPr/>
        </p:nvSpPr>
        <p:spPr>
          <a:xfrm>
            <a:off x="4681728" y="5349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CHANGE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7781544" y="37947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F00"/>
                </a:solidFill>
              </a:rPr>
              <a:t>→</a:t>
            </a:r>
            <a:endParaRPr lang="en-US" sz="2400" dirty="0"/>
          </a:p>
        </p:txBody>
      </p:sp>
      <p:sp>
        <p:nvSpPr>
          <p:cNvPr id="25" name="Shape 20"/>
          <p:cNvSpPr/>
          <p:nvPr/>
        </p:nvSpPr>
        <p:spPr>
          <a:xfrm>
            <a:off x="8083296" y="233172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449056" y="2743200"/>
            <a:ext cx="868680" cy="86868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980944"/>
            <a:ext cx="393192" cy="3931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643616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600" b="1" dirty="0">
                <a:solidFill>
                  <a:srgbClr val="DCE4E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4600" dirty="0"/>
          </a:p>
        </p:txBody>
      </p:sp>
      <p:sp>
        <p:nvSpPr>
          <p:cNvPr id="29" name="Text 23"/>
          <p:cNvSpPr/>
          <p:nvPr/>
        </p:nvSpPr>
        <p:spPr>
          <a:xfrm>
            <a:off x="8449056" y="3794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File range fetch</a:t>
            </a:r>
            <a:endParaRPr lang="en-US" sz="1900" dirty="0"/>
          </a:p>
        </p:txBody>
      </p:sp>
      <p:sp>
        <p:nvSpPr>
          <p:cNvPr id="30" name="Text 24"/>
          <p:cNvSpPr/>
          <p:nvPr/>
        </p:nvSpPr>
        <p:spPr>
          <a:xfrm>
            <a:off x="8449056" y="434340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HTTP Range GET per changed file, pulling only the changed bytes. You must download changed bytes no matter what.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449056" y="5330952"/>
            <a:ext cx="2057400" cy="384048"/>
          </a:xfrm>
          <a:prstGeom prst="roundRect">
            <a:avLst>
              <a:gd name="adj" fmla="val 14286"/>
            </a:avLst>
          </a:prstGeom>
          <a:solidFill>
            <a:srgbClr val="EAF1FA"/>
          </a:solidFill>
          <a:ln/>
        </p:spPr>
      </p:sp>
      <p:sp>
        <p:nvSpPr>
          <p:cNvPr id="32" name="Text 26"/>
          <p:cNvSpPr/>
          <p:nvPr/>
        </p:nvSpPr>
        <p:spPr>
          <a:xfrm>
            <a:off x="8449056" y="534924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CHANGED FILE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CRC tree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file is a tree: a 16-bit CRC per chunk, rolled up into a file CRC used as the primary “did this file change” signal. The device caches its own tree, persisted across power cycles.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863840" y="19202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032654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2039112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FILE CRC
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0A7D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CRC-32 rollup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281160" y="2788920"/>
            <a:ext cx="-2551176" cy="96012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37490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1112" y="3913632"/>
            <a:ext cx="237744" cy="23774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9281160" y="2788920"/>
            <a:ext cx="-1837944" cy="96012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59752" y="37490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4" y="3913632"/>
            <a:ext cx="237744" cy="23774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281160" y="2788920"/>
            <a:ext cx="-1124712" cy="96012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872984" y="37490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F7F00"/>
          </a:solidFill>
          <a:ln w="12700">
            <a:solidFill>
              <a:srgbClr val="E2E9F2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7576" y="3913632"/>
            <a:ext cx="237744" cy="23774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9281160" y="2788920"/>
            <a:ext cx="-411480" cy="96012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8586216" y="37490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808" y="3913632"/>
            <a:ext cx="237744" cy="23774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281160" y="2788920"/>
            <a:ext cx="301752" cy="960120"/>
          </a:xfrm>
          <a:prstGeom prst="line">
            <a:avLst/>
          </a:prstGeom>
          <a:noFill/>
          <a:ln w="19050">
            <a:solidFill>
              <a:srgbClr val="80A7DB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9299448" y="374904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3913632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263640" y="44348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16-bit chunk-CRC leaves  (≤ 64 per file)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48640" y="3108960"/>
            <a:ext cx="5486400" cy="2697480"/>
          </a:xfrm>
          <a:prstGeom prst="roundRect">
            <a:avLst>
              <a:gd name="adj" fmla="val 3390"/>
            </a:avLst>
          </a:prstGeom>
          <a:solidFill>
            <a:srgbClr val="FFF4E8"/>
          </a:solidFill>
          <a:ln w="12700">
            <a:solidFill>
              <a:srgbClr val="F4D5AD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68680" y="3383280"/>
            <a:ext cx="640080" cy="64008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" y="3538728"/>
            <a:ext cx="329184" cy="32918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691640" y="34564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6B0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Correctness rule, not performance</a:t>
            </a:r>
            <a:endParaRPr lang="en-US" sz="1500" dirty="0"/>
          </a:p>
        </p:txBody>
      </p:sp>
      <p:sp>
        <p:nvSpPr>
          <p:cNvPr id="29" name="Text 20"/>
          <p:cNvSpPr/>
          <p:nvPr/>
        </p:nvSpPr>
        <p:spPr>
          <a:xfrm>
            <a:off x="914400" y="4160520"/>
            <a:ext cx="4846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CRC-32 at the file and manifest-master levels, even though chunk leaves stay 16-bit.
</a:t>
            </a:r>
            <a:endParaRPr lang="en-US" sz="12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16-bit rollup risks a changed file producing an unchanged file hash — the device would never start drilling down.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SIZING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Fixed-width vector of ≤ 64 CRCs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scales up with file size so the 64-entry cap always holds and no chunk is smaller than the 8 KB download floor. Chunk size is NOT stored — the device derives it from file size using the same versioned switch the server used.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6035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6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 size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65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Resulting entries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265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8 KB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(file CRC only)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KB – 512 KB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– 64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KB – 3 MB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KB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0326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– 48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47091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KB ÷ 8 KB = 64 (cap, exactly) · 3 MB ÷ 64 KB = 48 · every file lands ≤ 64 entries.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949440" y="2514600"/>
            <a:ext cx="4690872" cy="3246120"/>
          </a:xfrm>
          <a:prstGeom prst="roundRect">
            <a:avLst>
              <a:gd name="adj" fmla="val 2817"/>
            </a:avLst>
          </a:prstGeom>
          <a:solidFill>
            <a:srgbClr val="032654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269480" y="2788920"/>
            <a:ext cx="640080" cy="64008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1504" y="2944368"/>
            <a:ext cx="274320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92440" y="28620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Accepted tradeoff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269480" y="361188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 MB file localizes changes to 64 KB rather than 8 KB, so a mid-file edit re-fetches up to 64 KB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80A7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(~100–200 ms over-fetch on a few-Mbps link, on the ~20% of changes that aren’t appends).
</a:t>
            </a:r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Appends still resolve to a single tail range. A cheap price for fixed-width rows.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FLOW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Size-first, optimistic append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777240" cy="777240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304288"/>
            <a:ext cx="374904" cy="3749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737360" y="213969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Poll versions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41248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+ custom version numbers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050792" y="2331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F00"/>
                </a:solidFill>
              </a:rPr>
              <a:t>→</a:t>
            </a:r>
            <a:endParaRPr lang="en-US" sz="2600" dirty="0"/>
          </a:p>
        </p:txBody>
      </p:sp>
      <p:sp>
        <p:nvSpPr>
          <p:cNvPr id="12" name="Shape 8"/>
          <p:cNvSpPr/>
          <p:nvPr/>
        </p:nvSpPr>
        <p:spPr>
          <a:xfrm>
            <a:off x="4462272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1FA"/>
          </a:solidFill>
          <a:ln w="19050">
            <a:solidFill>
              <a:srgbClr val="80A7D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36592" y="2103120"/>
            <a:ext cx="777240" cy="77724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304288"/>
            <a:ext cx="374904" cy="3749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50992" y="213969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Unchanged?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4754880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match → DONE. Stop.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7964424" y="233172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F00"/>
                </a:solidFill>
              </a:rPr>
              <a:t>→</a:t>
            </a:r>
            <a:endParaRPr lang="en-US" sz="2600" dirty="0"/>
          </a:p>
        </p:txBody>
      </p:sp>
      <p:sp>
        <p:nvSpPr>
          <p:cNvPr id="18" name="Shape 13"/>
          <p:cNvSpPr/>
          <p:nvPr/>
        </p:nvSpPr>
        <p:spPr>
          <a:xfrm>
            <a:off x="8375904" y="18288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50224" y="2103120"/>
            <a:ext cx="777240" cy="777240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2304288"/>
            <a:ext cx="374904" cy="3749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564624" y="213969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Fetch manifest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668512" y="29718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Range-fetch changed portion; verify CRC; classify rows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0690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2960" y="4343400"/>
            <a:ext cx="777240" cy="777240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28" y="4544568"/>
            <a:ext cx="374904" cy="3749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37360" y="437997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4. Size-first append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841248" y="5212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larger → GET tail range, append, recompute CRC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050792" y="45720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F00"/>
                </a:solidFill>
              </a:rPr>
              <a:t>→</a:t>
            </a:r>
            <a:endParaRPr lang="en-US" sz="2600" dirty="0"/>
          </a:p>
        </p:txBody>
      </p:sp>
      <p:sp>
        <p:nvSpPr>
          <p:cNvPr id="29" name="Shape 22"/>
          <p:cNvSpPr/>
          <p:nvPr/>
        </p:nvSpPr>
        <p:spPr>
          <a:xfrm>
            <a:off x="4462272" y="40690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EAF1FA"/>
          </a:solidFill>
          <a:ln w="19050">
            <a:solidFill>
              <a:srgbClr val="80A7D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36592" y="4343400"/>
            <a:ext cx="777240" cy="77724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4544568"/>
            <a:ext cx="374904" cy="3749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50992" y="437997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 CRC match?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4754880" y="5212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→ done (one fetch). No → drill down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7964424" y="457200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7F00"/>
                </a:solidFill>
              </a:rPr>
              <a:t>→</a:t>
            </a:r>
            <a:endParaRPr lang="en-US" sz="2600" dirty="0"/>
          </a:p>
        </p:txBody>
      </p:sp>
      <p:sp>
        <p:nvSpPr>
          <p:cNvPr id="35" name="Shape 27"/>
          <p:cNvSpPr/>
          <p:nvPr/>
        </p:nvSpPr>
        <p:spPr>
          <a:xfrm>
            <a:off x="8375904" y="40690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650224" y="4343400"/>
            <a:ext cx="777240" cy="777240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1392" y="4544568"/>
            <a:ext cx="374904" cy="37490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564624" y="4379976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6. Chunk drill-down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8668512" y="52120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Range-GET each differing chunk; recompute &amp; confirm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9953244" y="356616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7F00"/>
                </a:solidFill>
              </a:rPr>
              <a:t>↓</a:t>
            </a:r>
            <a:endParaRPr lang="en-US" sz="2400" dirty="0"/>
          </a:p>
        </p:txBody>
      </p:sp>
      <p:sp>
        <p:nvSpPr>
          <p:cNvPr id="41" name="Text 3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Mass change → still one manifest fetch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 is optimized for a few changes — but the design explicitly allows many at once: e.g. 10 deletes + 6 mid-file edits + 12 appends in one window. All resolve from ONE manifest fetch, because the manifest is authoritative for the entire file set in a single document.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5440680" cy="3337560"/>
          </a:xfrm>
          <a:prstGeom prst="roundRect">
            <a:avLst>
              <a:gd name="adj" fmla="val 2740"/>
            </a:avLst>
          </a:prstGeom>
          <a:solidFill>
            <a:srgbClr val="FBEEEC"/>
          </a:solidFill>
          <a:ln w="12700">
            <a:solidFill>
              <a:srgbClr val="E8C5B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PER-FILE TREE-WALKING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383280"/>
            <a:ext cx="731520" cy="7315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3566160"/>
            <a:ext cx="365760" cy="3657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828800" y="3337560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1828800" y="3630168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1828800" y="3922776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1828800" y="4215384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1828800" y="4507992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1828800" y="4800600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1828800" y="5093208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1828800" y="5385816"/>
            <a:ext cx="356616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868680" y="55321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0392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 changes → transaction storm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355080" y="2606040"/>
            <a:ext cx="5285232" cy="3337560"/>
          </a:xfrm>
          <a:prstGeom prst="roundRect">
            <a:avLst>
              <a:gd name="adj" fmla="val 2740"/>
            </a:avLst>
          </a:prstGeom>
          <a:solidFill>
            <a:srgbClr val="E9F5EE"/>
          </a:solidFill>
          <a:ln w="12700">
            <a:solidFill>
              <a:srgbClr val="BFE3CD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6751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APPROACH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720840" y="3840480"/>
            <a:ext cx="777240" cy="777240"/>
          </a:xfrm>
          <a:prstGeom prst="ellipse">
            <a:avLst/>
          </a:prstGeom>
          <a:solidFill>
            <a:srgbClr val="1E8E57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4" y="4041648"/>
            <a:ext cx="384048" cy="384048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7680960" y="4224528"/>
            <a:ext cx="2743200" cy="0"/>
          </a:xfrm>
          <a:prstGeom prst="line">
            <a:avLst/>
          </a:prstGeom>
          <a:noFill/>
          <a:ln w="76200">
            <a:solidFill>
              <a:srgbClr val="1E8E57"/>
            </a:solidFill>
            <a:prstDash val="solid"/>
            <a:tailEnd type="triangle"/>
          </a:ln>
        </p:spPr>
      </p:sp>
      <p:sp>
        <p:nvSpPr>
          <p:cNvPr id="25" name="Shape 20"/>
          <p:cNvSpPr/>
          <p:nvPr/>
        </p:nvSpPr>
        <p:spPr>
          <a:xfrm>
            <a:off x="10515600" y="3794760"/>
            <a:ext cx="868680" cy="868680"/>
          </a:xfrm>
          <a:prstGeom prst="roundRect">
            <a:avLst>
              <a:gd name="adj" fmla="val 8421"/>
            </a:avLst>
          </a:prstGeom>
          <a:solidFill>
            <a:srgbClr val="03265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1048" y="3977640"/>
            <a:ext cx="914400" cy="914400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0" y="4005072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75120" y="5532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E8E5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28 changes → one fetch resolves all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2062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280160" y="6583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the design can fail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093976"/>
            <a:ext cx="292608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19842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16-bit CRC collisions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841248" y="258775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~1-in-65,536 per chunk. Across 384 chunks × 1,500 files × years, not hypothetical.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41248" y="3200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buNone/>
            </a:pPr>
            <a:r>
              <a:rPr lang="en-US" sz="1100" i="1" dirty="0">
                <a:solidFill>
                  <a:srgbClr val="4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CRC-32 rollups at file &amp; manifest levels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309360" y="169164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83680" y="1965960"/>
            <a:ext cx="548640" cy="54864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2093976"/>
            <a:ext cx="292608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19842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Cold start is unmeasured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601968" y="258775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factory-fresh device rebuilds by scanning every file. If a 3 MB scan is minutes, a 1,500-file scan runs into hours.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6601968" y="320040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buNone/>
            </a:pPr>
            <a:r>
              <a:rPr lang="en-US" sz="1100" i="1" dirty="0">
                <a:solidFill>
                  <a:srgbClr val="4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firmware measurement (§11)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334256"/>
            <a:ext cx="292608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2245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“Fill every byte” waste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1248" y="482803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two years between bursts, every poll returns “unchanged.” Density only pays when a version moves.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41248" y="54406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buNone/>
            </a:pPr>
            <a:r>
              <a:rPr lang="en-US" sz="1100" i="1" dirty="0">
                <a:solidFill>
                  <a:srgbClr val="4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poll in steady state; dense only on change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309360" y="3931920"/>
            <a:ext cx="5440680" cy="196596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12700">
            <a:solidFill>
              <a:srgbClr val="E2E9F2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4334256"/>
            <a:ext cx="292608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269480" y="422452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Membership authority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601968" y="4828032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hash tree can’t express “file 47 deleted” or “file 1601 is new.”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6601968" y="544068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1E8E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 </a:t>
            </a:r>
            <a:pPr indent="0" marL="0">
              <a:buNone/>
            </a:pPr>
            <a:r>
              <a:rPr lang="en-US" sz="1100" i="1" dirty="0">
                <a:solidFill>
                  <a:srgbClr val="4054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is authoritative for presence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D9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format caveat:  </a:t>
            </a:r>
            <a:pPr indent="0" marL="0">
              <a:buNone/>
            </a:pPr>
            <a:r>
              <a:rPr lang="en-US" sz="1150" i="1" dirty="0">
                <a:solidFill>
                  <a:srgbClr val="5050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SQLite .db does not append cleanly — paged writes scatter byte changes, so the manifest itself can’t use the tail-append shortcut.</a:t>
            </a:r>
            <a:endParaRPr lang="en-US" sz="1150" dirty="0"/>
          </a:p>
        </p:txBody>
      </p:sp>
      <p:sp>
        <p:nvSpPr>
          <p:cNvPr id="31" name="Text 24"/>
          <p:cNvSpPr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26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572000"/>
            <a:ext cx="5029200" cy="5029200"/>
          </a:xfrm>
          <a:prstGeom prst="ellipse">
            <a:avLst/>
          </a:prstGeom>
          <a:solidFill>
            <a:srgbClr val="0B3A6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7F0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64922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280160" y="6949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 questions &amp; the design gate</a:t>
            </a:r>
            <a:endParaRPr lang="en-US" sz="27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B3A6B"/>
          </a:solidFill>
          <a:ln w="19050">
            <a:solidFill>
              <a:srgbClr val="80A7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234440" y="173736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format — SQLite (.db) vs. append-only / log-structured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2496312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B3A6B"/>
          </a:solidFill>
          <a:ln w="19050">
            <a:solidFill>
              <a:srgbClr val="80A7D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34440" y="245059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Chunk-leaf CRC width — confirm 16-bit leaves given CRC-32 rollups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209544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B3A6B"/>
          </a:solidFill>
          <a:ln w="19050">
            <a:solidFill>
              <a:srgbClr val="80A7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34440" y="3163824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boundaries — lock 8 KB / 512 KB / 3 MB &amp; assign a format version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922776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B3A6B"/>
          </a:solidFill>
          <a:ln w="19050">
            <a:solidFill>
              <a:srgbClr val="80A7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34440" y="3877056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transports — provision for IoT-hub &amp; WebSocket sync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49440" y="1783080"/>
            <a:ext cx="4690872" cy="4297680"/>
          </a:xfrm>
          <a:prstGeom prst="roundRect">
            <a:avLst>
              <a:gd name="adj" fmla="val 2553"/>
            </a:avLst>
          </a:prstGeom>
          <a:solidFill>
            <a:srgbClr val="FF7F00"/>
          </a:solidFill>
          <a:ln/>
          <a:effectLst>
            <a:outerShdw sx="100000" sy="100000" kx="0" ky="0" algn="bl" rotWithShape="0" blurRad="88900" dist="38100" dir="54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315200" y="2103120"/>
            <a:ext cx="868680" cy="868680"/>
          </a:xfrm>
          <a:prstGeom prst="ellipse">
            <a:avLst/>
          </a:prstGeom>
          <a:solidFill>
            <a:srgbClr val="032654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2944" y="2340864"/>
            <a:ext cx="393192" cy="39319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321040" y="21945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GATE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8321040" y="248716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3265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Required firmware measurement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360920" y="324612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does the ESP32-S3 take to compute a 16-bit CRC across a full 3 MB file, end to end (flash read included)?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7360920" y="45262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ms →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2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rescans, boot verification &amp; aggressive caching all viable.
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032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min →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A2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cold-start &amp; rescan strategy must change.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54864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iotFileSync v0.4  ·  Draft  ·  Haven Lighting  ·  Internal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iotFileSync</dc:title>
  <dc:subject>PptxGenJS Presentation</dc:subject>
  <dc:creator>Jonathan, Haven Lighting</dc:creator>
  <cp:lastModifiedBy>Jonathan, Haven Lighting</cp:lastModifiedBy>
  <cp:revision>1</cp:revision>
  <dcterms:created xsi:type="dcterms:W3CDTF">2026-06-25T22:08:55Z</dcterms:created>
  <dcterms:modified xsi:type="dcterms:W3CDTF">2026-06-25T22:08:55Z</dcterms:modified>
</cp:coreProperties>
</file>